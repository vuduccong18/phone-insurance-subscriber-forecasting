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327"/>
  </p:normalViewPr>
  <p:slideViewPr>
    <p:cSldViewPr snapToGrid="0">
      <p:cViewPr varScale="1">
        <p:scale>
          <a:sx n="95" d="100"/>
          <a:sy n="95" d="100"/>
        </p:scale>
        <p:origin x="1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77C2B-1064-D385-DDF7-0550DD2EB86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9FFE6D4-9CA7-CB95-397D-E49225D242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05A048E-1D9F-6FF0-4394-0EFEC31DF65F}"/>
              </a:ext>
            </a:extLst>
          </p:cNvPr>
          <p:cNvSpPr>
            <a:spLocks noGrp="1"/>
          </p:cNvSpPr>
          <p:nvPr>
            <p:ph type="dt" sz="half" idx="10"/>
          </p:nvPr>
        </p:nvSpPr>
        <p:spPr/>
        <p:txBody>
          <a:bodyPr/>
          <a:lstStyle/>
          <a:p>
            <a:fld id="{667F9263-46EE-4841-836B-BCCCE72C8B91}" type="datetimeFigureOut">
              <a:rPr lang="en-US" smtClean="0"/>
              <a:t>4/8/2025</a:t>
            </a:fld>
            <a:endParaRPr lang="en-US"/>
          </a:p>
        </p:txBody>
      </p:sp>
      <p:sp>
        <p:nvSpPr>
          <p:cNvPr id="5" name="Footer Placeholder 4">
            <a:extLst>
              <a:ext uri="{FF2B5EF4-FFF2-40B4-BE49-F238E27FC236}">
                <a16:creationId xmlns:a16="http://schemas.microsoft.com/office/drawing/2014/main" id="{EA53D09E-6325-E222-4859-65BECCF8F7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046BB3-0205-48AC-935B-7E68026C3A52}"/>
              </a:ext>
            </a:extLst>
          </p:cNvPr>
          <p:cNvSpPr>
            <a:spLocks noGrp="1"/>
          </p:cNvSpPr>
          <p:nvPr>
            <p:ph type="sldNum" sz="quarter" idx="12"/>
          </p:nvPr>
        </p:nvSpPr>
        <p:spPr/>
        <p:txBody>
          <a:bodyPr/>
          <a:lstStyle/>
          <a:p>
            <a:fld id="{A67F6D81-17FA-8B4E-853F-AD4A8DC3E68B}" type="slidenum">
              <a:rPr lang="en-US" smtClean="0"/>
              <a:t>‹#›</a:t>
            </a:fld>
            <a:endParaRPr lang="en-US"/>
          </a:p>
        </p:txBody>
      </p:sp>
    </p:spTree>
    <p:extLst>
      <p:ext uri="{BB962C8B-B14F-4D97-AF65-F5344CB8AC3E}">
        <p14:creationId xmlns:p14="http://schemas.microsoft.com/office/powerpoint/2010/main" val="1803236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3737C-A49E-400B-15F8-A08EE5BAC42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A65738F-74D2-537E-DA6A-220E4CA0324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6B36B04-394A-80F9-B3AF-B6C3AB8D184D}"/>
              </a:ext>
            </a:extLst>
          </p:cNvPr>
          <p:cNvSpPr>
            <a:spLocks noGrp="1"/>
          </p:cNvSpPr>
          <p:nvPr>
            <p:ph type="dt" sz="half" idx="10"/>
          </p:nvPr>
        </p:nvSpPr>
        <p:spPr/>
        <p:txBody>
          <a:bodyPr/>
          <a:lstStyle/>
          <a:p>
            <a:fld id="{667F9263-46EE-4841-836B-BCCCE72C8B91}" type="datetimeFigureOut">
              <a:rPr lang="en-US" smtClean="0"/>
              <a:t>4/8/2025</a:t>
            </a:fld>
            <a:endParaRPr lang="en-US"/>
          </a:p>
        </p:txBody>
      </p:sp>
      <p:sp>
        <p:nvSpPr>
          <p:cNvPr id="5" name="Footer Placeholder 4">
            <a:extLst>
              <a:ext uri="{FF2B5EF4-FFF2-40B4-BE49-F238E27FC236}">
                <a16:creationId xmlns:a16="http://schemas.microsoft.com/office/drawing/2014/main" id="{44BE3721-21C1-A445-83A0-540F6E73A6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4B77F-97EE-385E-EB33-D89D0D56CE20}"/>
              </a:ext>
            </a:extLst>
          </p:cNvPr>
          <p:cNvSpPr>
            <a:spLocks noGrp="1"/>
          </p:cNvSpPr>
          <p:nvPr>
            <p:ph type="sldNum" sz="quarter" idx="12"/>
          </p:nvPr>
        </p:nvSpPr>
        <p:spPr/>
        <p:txBody>
          <a:bodyPr/>
          <a:lstStyle/>
          <a:p>
            <a:fld id="{A67F6D81-17FA-8B4E-853F-AD4A8DC3E68B}" type="slidenum">
              <a:rPr lang="en-US" smtClean="0"/>
              <a:t>‹#›</a:t>
            </a:fld>
            <a:endParaRPr lang="en-US"/>
          </a:p>
        </p:txBody>
      </p:sp>
    </p:spTree>
    <p:extLst>
      <p:ext uri="{BB962C8B-B14F-4D97-AF65-F5344CB8AC3E}">
        <p14:creationId xmlns:p14="http://schemas.microsoft.com/office/powerpoint/2010/main" val="1118959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63ED2-D0A7-8147-ACF8-65746E22F84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B492C87-7941-547F-43E4-A36A25CCBA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0891CB8-8382-5F34-9F7D-EC1A1C8ACA03}"/>
              </a:ext>
            </a:extLst>
          </p:cNvPr>
          <p:cNvSpPr>
            <a:spLocks noGrp="1"/>
          </p:cNvSpPr>
          <p:nvPr>
            <p:ph type="dt" sz="half" idx="10"/>
          </p:nvPr>
        </p:nvSpPr>
        <p:spPr/>
        <p:txBody>
          <a:bodyPr/>
          <a:lstStyle/>
          <a:p>
            <a:fld id="{667F9263-46EE-4841-836B-BCCCE72C8B91}" type="datetimeFigureOut">
              <a:rPr lang="en-US" smtClean="0"/>
              <a:t>4/8/2025</a:t>
            </a:fld>
            <a:endParaRPr lang="en-US"/>
          </a:p>
        </p:txBody>
      </p:sp>
      <p:sp>
        <p:nvSpPr>
          <p:cNvPr id="5" name="Footer Placeholder 4">
            <a:extLst>
              <a:ext uri="{FF2B5EF4-FFF2-40B4-BE49-F238E27FC236}">
                <a16:creationId xmlns:a16="http://schemas.microsoft.com/office/drawing/2014/main" id="{E8F614C6-D952-E617-6F7E-4AA79D4932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3D66DD-0317-7B09-086B-8CE09A7B6EB3}"/>
              </a:ext>
            </a:extLst>
          </p:cNvPr>
          <p:cNvSpPr>
            <a:spLocks noGrp="1"/>
          </p:cNvSpPr>
          <p:nvPr>
            <p:ph type="sldNum" sz="quarter" idx="12"/>
          </p:nvPr>
        </p:nvSpPr>
        <p:spPr/>
        <p:txBody>
          <a:bodyPr/>
          <a:lstStyle/>
          <a:p>
            <a:fld id="{A67F6D81-17FA-8B4E-853F-AD4A8DC3E68B}" type="slidenum">
              <a:rPr lang="en-US" smtClean="0"/>
              <a:t>‹#›</a:t>
            </a:fld>
            <a:endParaRPr lang="en-US"/>
          </a:p>
        </p:txBody>
      </p:sp>
    </p:spTree>
    <p:extLst>
      <p:ext uri="{BB962C8B-B14F-4D97-AF65-F5344CB8AC3E}">
        <p14:creationId xmlns:p14="http://schemas.microsoft.com/office/powerpoint/2010/main" val="3558747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F345-9132-7DD0-10CD-BB9531F6BED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5A57519-CCA6-9D1B-4226-98A432F1BA9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A56F057-D26A-7885-3670-60744AC5F23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985666F-D12F-AC61-38E7-12C75403E7DA}"/>
              </a:ext>
            </a:extLst>
          </p:cNvPr>
          <p:cNvSpPr>
            <a:spLocks noGrp="1"/>
          </p:cNvSpPr>
          <p:nvPr>
            <p:ph type="dt" sz="half" idx="10"/>
          </p:nvPr>
        </p:nvSpPr>
        <p:spPr/>
        <p:txBody>
          <a:bodyPr/>
          <a:lstStyle/>
          <a:p>
            <a:fld id="{667F9263-46EE-4841-836B-BCCCE72C8B91}" type="datetimeFigureOut">
              <a:rPr lang="en-US" smtClean="0"/>
              <a:t>4/8/2025</a:t>
            </a:fld>
            <a:endParaRPr lang="en-US"/>
          </a:p>
        </p:txBody>
      </p:sp>
      <p:sp>
        <p:nvSpPr>
          <p:cNvPr id="6" name="Footer Placeholder 5">
            <a:extLst>
              <a:ext uri="{FF2B5EF4-FFF2-40B4-BE49-F238E27FC236}">
                <a16:creationId xmlns:a16="http://schemas.microsoft.com/office/drawing/2014/main" id="{09A680A9-CFD5-2C38-6B7E-6199D1F368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D605BC-9C4E-3414-97F6-780A68D0FF5E}"/>
              </a:ext>
            </a:extLst>
          </p:cNvPr>
          <p:cNvSpPr>
            <a:spLocks noGrp="1"/>
          </p:cNvSpPr>
          <p:nvPr>
            <p:ph type="sldNum" sz="quarter" idx="12"/>
          </p:nvPr>
        </p:nvSpPr>
        <p:spPr/>
        <p:txBody>
          <a:bodyPr/>
          <a:lstStyle/>
          <a:p>
            <a:fld id="{A67F6D81-17FA-8B4E-853F-AD4A8DC3E68B}" type="slidenum">
              <a:rPr lang="en-US" smtClean="0"/>
              <a:t>‹#›</a:t>
            </a:fld>
            <a:endParaRPr lang="en-US"/>
          </a:p>
        </p:txBody>
      </p:sp>
    </p:spTree>
    <p:extLst>
      <p:ext uri="{BB962C8B-B14F-4D97-AF65-F5344CB8AC3E}">
        <p14:creationId xmlns:p14="http://schemas.microsoft.com/office/powerpoint/2010/main" val="270165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1F305-1D7A-C9BD-A951-4E501D1CC265}"/>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8FE6AD6-B0B4-0AB5-50A1-4642070F9C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2FF2F3A-E718-43EE-3864-06F0110742A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E4A1E95-D1B3-2814-A101-066971210F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215B66C-D885-C05F-2CA5-924EFD99C44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3512ACE-31D6-8508-4F02-DC64E6216222}"/>
              </a:ext>
            </a:extLst>
          </p:cNvPr>
          <p:cNvSpPr>
            <a:spLocks noGrp="1"/>
          </p:cNvSpPr>
          <p:nvPr>
            <p:ph type="dt" sz="half" idx="10"/>
          </p:nvPr>
        </p:nvSpPr>
        <p:spPr/>
        <p:txBody>
          <a:bodyPr/>
          <a:lstStyle/>
          <a:p>
            <a:fld id="{667F9263-46EE-4841-836B-BCCCE72C8B91}" type="datetimeFigureOut">
              <a:rPr lang="en-US" smtClean="0"/>
              <a:t>4/8/2025</a:t>
            </a:fld>
            <a:endParaRPr lang="en-US"/>
          </a:p>
        </p:txBody>
      </p:sp>
      <p:sp>
        <p:nvSpPr>
          <p:cNvPr id="8" name="Footer Placeholder 7">
            <a:extLst>
              <a:ext uri="{FF2B5EF4-FFF2-40B4-BE49-F238E27FC236}">
                <a16:creationId xmlns:a16="http://schemas.microsoft.com/office/drawing/2014/main" id="{FCD5BE7A-97E2-42EB-F2F3-C17F0C2BAC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2C4EDC-4CA0-C88B-79D9-5B4E1BD21B1D}"/>
              </a:ext>
            </a:extLst>
          </p:cNvPr>
          <p:cNvSpPr>
            <a:spLocks noGrp="1"/>
          </p:cNvSpPr>
          <p:nvPr>
            <p:ph type="sldNum" sz="quarter" idx="12"/>
          </p:nvPr>
        </p:nvSpPr>
        <p:spPr/>
        <p:txBody>
          <a:bodyPr/>
          <a:lstStyle/>
          <a:p>
            <a:fld id="{A67F6D81-17FA-8B4E-853F-AD4A8DC3E68B}" type="slidenum">
              <a:rPr lang="en-US" smtClean="0"/>
              <a:t>‹#›</a:t>
            </a:fld>
            <a:endParaRPr lang="en-US"/>
          </a:p>
        </p:txBody>
      </p:sp>
    </p:spTree>
    <p:extLst>
      <p:ext uri="{BB962C8B-B14F-4D97-AF65-F5344CB8AC3E}">
        <p14:creationId xmlns:p14="http://schemas.microsoft.com/office/powerpoint/2010/main" val="3781118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F411D-74AE-3015-F4CE-3C0D0C97A38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381DA26-5052-C7EF-4C5E-C06F06347284}"/>
              </a:ext>
            </a:extLst>
          </p:cNvPr>
          <p:cNvSpPr>
            <a:spLocks noGrp="1"/>
          </p:cNvSpPr>
          <p:nvPr>
            <p:ph type="dt" sz="half" idx="10"/>
          </p:nvPr>
        </p:nvSpPr>
        <p:spPr/>
        <p:txBody>
          <a:bodyPr/>
          <a:lstStyle/>
          <a:p>
            <a:fld id="{667F9263-46EE-4841-836B-BCCCE72C8B91}" type="datetimeFigureOut">
              <a:rPr lang="en-US" smtClean="0"/>
              <a:t>4/8/2025</a:t>
            </a:fld>
            <a:endParaRPr lang="en-US"/>
          </a:p>
        </p:txBody>
      </p:sp>
      <p:sp>
        <p:nvSpPr>
          <p:cNvPr id="4" name="Footer Placeholder 3">
            <a:extLst>
              <a:ext uri="{FF2B5EF4-FFF2-40B4-BE49-F238E27FC236}">
                <a16:creationId xmlns:a16="http://schemas.microsoft.com/office/drawing/2014/main" id="{7A8F4A99-376E-1D7C-933C-5BFB687055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0B9DCA-6A13-EFDB-EBA5-DA1ABCA7C74D}"/>
              </a:ext>
            </a:extLst>
          </p:cNvPr>
          <p:cNvSpPr>
            <a:spLocks noGrp="1"/>
          </p:cNvSpPr>
          <p:nvPr>
            <p:ph type="sldNum" sz="quarter" idx="12"/>
          </p:nvPr>
        </p:nvSpPr>
        <p:spPr/>
        <p:txBody>
          <a:bodyPr/>
          <a:lstStyle/>
          <a:p>
            <a:fld id="{A67F6D81-17FA-8B4E-853F-AD4A8DC3E68B}" type="slidenum">
              <a:rPr lang="en-US" smtClean="0"/>
              <a:t>‹#›</a:t>
            </a:fld>
            <a:endParaRPr lang="en-US"/>
          </a:p>
        </p:txBody>
      </p:sp>
    </p:spTree>
    <p:extLst>
      <p:ext uri="{BB962C8B-B14F-4D97-AF65-F5344CB8AC3E}">
        <p14:creationId xmlns:p14="http://schemas.microsoft.com/office/powerpoint/2010/main" val="320887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35B870-5724-A700-71A3-9DA51990710F}"/>
              </a:ext>
            </a:extLst>
          </p:cNvPr>
          <p:cNvSpPr>
            <a:spLocks noGrp="1"/>
          </p:cNvSpPr>
          <p:nvPr>
            <p:ph type="dt" sz="half" idx="10"/>
          </p:nvPr>
        </p:nvSpPr>
        <p:spPr/>
        <p:txBody>
          <a:bodyPr/>
          <a:lstStyle/>
          <a:p>
            <a:fld id="{667F9263-46EE-4841-836B-BCCCE72C8B91}" type="datetimeFigureOut">
              <a:rPr lang="en-US" smtClean="0"/>
              <a:t>4/8/2025</a:t>
            </a:fld>
            <a:endParaRPr lang="en-US"/>
          </a:p>
        </p:txBody>
      </p:sp>
      <p:sp>
        <p:nvSpPr>
          <p:cNvPr id="3" name="Footer Placeholder 2">
            <a:extLst>
              <a:ext uri="{FF2B5EF4-FFF2-40B4-BE49-F238E27FC236}">
                <a16:creationId xmlns:a16="http://schemas.microsoft.com/office/drawing/2014/main" id="{F3C5B038-36B4-5062-E5B0-F22C5C8370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E092F4-14B7-CECF-896D-F86AF3FAE432}"/>
              </a:ext>
            </a:extLst>
          </p:cNvPr>
          <p:cNvSpPr>
            <a:spLocks noGrp="1"/>
          </p:cNvSpPr>
          <p:nvPr>
            <p:ph type="sldNum" sz="quarter" idx="12"/>
          </p:nvPr>
        </p:nvSpPr>
        <p:spPr/>
        <p:txBody>
          <a:bodyPr/>
          <a:lstStyle/>
          <a:p>
            <a:fld id="{A67F6D81-17FA-8B4E-853F-AD4A8DC3E68B}" type="slidenum">
              <a:rPr lang="en-US" smtClean="0"/>
              <a:t>‹#›</a:t>
            </a:fld>
            <a:endParaRPr lang="en-US"/>
          </a:p>
        </p:txBody>
      </p:sp>
    </p:spTree>
    <p:extLst>
      <p:ext uri="{BB962C8B-B14F-4D97-AF65-F5344CB8AC3E}">
        <p14:creationId xmlns:p14="http://schemas.microsoft.com/office/powerpoint/2010/main" val="2465602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FD369-4505-9356-C156-C928642FE27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93E7994-2E13-6DA9-FD86-4FF92BB890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96DA620-E2B8-1B38-7293-8C6B007F26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1AD8C4D-4929-ABF6-9CBC-04A21186CB89}"/>
              </a:ext>
            </a:extLst>
          </p:cNvPr>
          <p:cNvSpPr>
            <a:spLocks noGrp="1"/>
          </p:cNvSpPr>
          <p:nvPr>
            <p:ph type="dt" sz="half" idx="10"/>
          </p:nvPr>
        </p:nvSpPr>
        <p:spPr/>
        <p:txBody>
          <a:bodyPr/>
          <a:lstStyle/>
          <a:p>
            <a:fld id="{667F9263-46EE-4841-836B-BCCCE72C8B91}" type="datetimeFigureOut">
              <a:rPr lang="en-US" smtClean="0"/>
              <a:t>4/8/2025</a:t>
            </a:fld>
            <a:endParaRPr lang="en-US"/>
          </a:p>
        </p:txBody>
      </p:sp>
      <p:sp>
        <p:nvSpPr>
          <p:cNvPr id="6" name="Footer Placeholder 5">
            <a:extLst>
              <a:ext uri="{FF2B5EF4-FFF2-40B4-BE49-F238E27FC236}">
                <a16:creationId xmlns:a16="http://schemas.microsoft.com/office/drawing/2014/main" id="{90AF919A-CA3C-D7DF-F096-B33EB79320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5C12B1-9DDD-5577-1ADF-BE19D7C6437B}"/>
              </a:ext>
            </a:extLst>
          </p:cNvPr>
          <p:cNvSpPr>
            <a:spLocks noGrp="1"/>
          </p:cNvSpPr>
          <p:nvPr>
            <p:ph type="sldNum" sz="quarter" idx="12"/>
          </p:nvPr>
        </p:nvSpPr>
        <p:spPr/>
        <p:txBody>
          <a:bodyPr/>
          <a:lstStyle/>
          <a:p>
            <a:fld id="{A67F6D81-17FA-8B4E-853F-AD4A8DC3E68B}" type="slidenum">
              <a:rPr lang="en-US" smtClean="0"/>
              <a:t>‹#›</a:t>
            </a:fld>
            <a:endParaRPr lang="en-US"/>
          </a:p>
        </p:txBody>
      </p:sp>
    </p:spTree>
    <p:extLst>
      <p:ext uri="{BB962C8B-B14F-4D97-AF65-F5344CB8AC3E}">
        <p14:creationId xmlns:p14="http://schemas.microsoft.com/office/powerpoint/2010/main" val="3635601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1D303-97C3-94F2-187E-D65893DBE31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21DC8FD-6B34-49EC-AB18-04C114D9FA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2F3F75-76D4-F1B2-6F97-08DA73AB02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4DA8124-19BA-8C34-F6E5-55D7576F5B05}"/>
              </a:ext>
            </a:extLst>
          </p:cNvPr>
          <p:cNvSpPr>
            <a:spLocks noGrp="1"/>
          </p:cNvSpPr>
          <p:nvPr>
            <p:ph type="dt" sz="half" idx="10"/>
          </p:nvPr>
        </p:nvSpPr>
        <p:spPr/>
        <p:txBody>
          <a:bodyPr/>
          <a:lstStyle/>
          <a:p>
            <a:fld id="{667F9263-46EE-4841-836B-BCCCE72C8B91}" type="datetimeFigureOut">
              <a:rPr lang="en-US" smtClean="0"/>
              <a:t>4/8/2025</a:t>
            </a:fld>
            <a:endParaRPr lang="en-US"/>
          </a:p>
        </p:txBody>
      </p:sp>
      <p:sp>
        <p:nvSpPr>
          <p:cNvPr id="6" name="Footer Placeholder 5">
            <a:extLst>
              <a:ext uri="{FF2B5EF4-FFF2-40B4-BE49-F238E27FC236}">
                <a16:creationId xmlns:a16="http://schemas.microsoft.com/office/drawing/2014/main" id="{C4E3AB80-4842-8A44-2990-3AFEBB970A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7613AD-74C5-FEC8-2110-E898AC5FC0EC}"/>
              </a:ext>
            </a:extLst>
          </p:cNvPr>
          <p:cNvSpPr>
            <a:spLocks noGrp="1"/>
          </p:cNvSpPr>
          <p:nvPr>
            <p:ph type="sldNum" sz="quarter" idx="12"/>
          </p:nvPr>
        </p:nvSpPr>
        <p:spPr/>
        <p:txBody>
          <a:bodyPr/>
          <a:lstStyle/>
          <a:p>
            <a:fld id="{A67F6D81-17FA-8B4E-853F-AD4A8DC3E68B}" type="slidenum">
              <a:rPr lang="en-US" smtClean="0"/>
              <a:t>‹#›</a:t>
            </a:fld>
            <a:endParaRPr lang="en-US"/>
          </a:p>
        </p:txBody>
      </p:sp>
    </p:spTree>
    <p:extLst>
      <p:ext uri="{BB962C8B-B14F-4D97-AF65-F5344CB8AC3E}">
        <p14:creationId xmlns:p14="http://schemas.microsoft.com/office/powerpoint/2010/main" val="3083415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C1A99-0227-EF18-DF1D-BF940105234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4AADB8B-4088-ECFF-D354-5C1320FEB31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3FB7783-A2E2-A249-D16B-83B03999B747}"/>
              </a:ext>
            </a:extLst>
          </p:cNvPr>
          <p:cNvSpPr>
            <a:spLocks noGrp="1"/>
          </p:cNvSpPr>
          <p:nvPr>
            <p:ph type="dt" sz="half" idx="10"/>
          </p:nvPr>
        </p:nvSpPr>
        <p:spPr/>
        <p:txBody>
          <a:bodyPr/>
          <a:lstStyle/>
          <a:p>
            <a:fld id="{667F9263-46EE-4841-836B-BCCCE72C8B91}" type="datetimeFigureOut">
              <a:rPr lang="en-US" smtClean="0"/>
              <a:t>4/8/2025</a:t>
            </a:fld>
            <a:endParaRPr lang="en-US"/>
          </a:p>
        </p:txBody>
      </p:sp>
      <p:sp>
        <p:nvSpPr>
          <p:cNvPr id="5" name="Footer Placeholder 4">
            <a:extLst>
              <a:ext uri="{FF2B5EF4-FFF2-40B4-BE49-F238E27FC236}">
                <a16:creationId xmlns:a16="http://schemas.microsoft.com/office/drawing/2014/main" id="{AFF6874E-23BD-C00A-2A2A-463E3C5CE6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07788-5810-BFD2-9BF1-C067C7FF025C}"/>
              </a:ext>
            </a:extLst>
          </p:cNvPr>
          <p:cNvSpPr>
            <a:spLocks noGrp="1"/>
          </p:cNvSpPr>
          <p:nvPr>
            <p:ph type="sldNum" sz="quarter" idx="12"/>
          </p:nvPr>
        </p:nvSpPr>
        <p:spPr/>
        <p:txBody>
          <a:bodyPr/>
          <a:lstStyle/>
          <a:p>
            <a:fld id="{A67F6D81-17FA-8B4E-853F-AD4A8DC3E68B}" type="slidenum">
              <a:rPr lang="en-US" smtClean="0"/>
              <a:t>‹#›</a:t>
            </a:fld>
            <a:endParaRPr lang="en-US"/>
          </a:p>
        </p:txBody>
      </p:sp>
    </p:spTree>
    <p:extLst>
      <p:ext uri="{BB962C8B-B14F-4D97-AF65-F5344CB8AC3E}">
        <p14:creationId xmlns:p14="http://schemas.microsoft.com/office/powerpoint/2010/main" val="3031266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2D754-ECEB-1C90-C5A6-789FBE3B608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1F3C527-2D04-86E1-1AA6-C9D02382ADD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F049DD2-E90B-3BE4-3BCF-ED102D791F0D}"/>
              </a:ext>
            </a:extLst>
          </p:cNvPr>
          <p:cNvSpPr>
            <a:spLocks noGrp="1"/>
          </p:cNvSpPr>
          <p:nvPr>
            <p:ph type="dt" sz="half" idx="10"/>
          </p:nvPr>
        </p:nvSpPr>
        <p:spPr/>
        <p:txBody>
          <a:bodyPr/>
          <a:lstStyle/>
          <a:p>
            <a:fld id="{667F9263-46EE-4841-836B-BCCCE72C8B91}" type="datetimeFigureOut">
              <a:rPr lang="en-US" smtClean="0"/>
              <a:t>4/8/2025</a:t>
            </a:fld>
            <a:endParaRPr lang="en-US"/>
          </a:p>
        </p:txBody>
      </p:sp>
      <p:sp>
        <p:nvSpPr>
          <p:cNvPr id="5" name="Footer Placeholder 4">
            <a:extLst>
              <a:ext uri="{FF2B5EF4-FFF2-40B4-BE49-F238E27FC236}">
                <a16:creationId xmlns:a16="http://schemas.microsoft.com/office/drawing/2014/main" id="{10FCE79E-C6A1-D3BA-EB29-BFA64D4C81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731D32-320B-961A-90A5-741C56A9C702}"/>
              </a:ext>
            </a:extLst>
          </p:cNvPr>
          <p:cNvSpPr>
            <a:spLocks noGrp="1"/>
          </p:cNvSpPr>
          <p:nvPr>
            <p:ph type="sldNum" sz="quarter" idx="12"/>
          </p:nvPr>
        </p:nvSpPr>
        <p:spPr/>
        <p:txBody>
          <a:bodyPr/>
          <a:lstStyle/>
          <a:p>
            <a:fld id="{A67F6D81-17FA-8B4E-853F-AD4A8DC3E68B}" type="slidenum">
              <a:rPr lang="en-US" smtClean="0"/>
              <a:t>‹#›</a:t>
            </a:fld>
            <a:endParaRPr lang="en-US"/>
          </a:p>
        </p:txBody>
      </p:sp>
    </p:spTree>
    <p:extLst>
      <p:ext uri="{BB962C8B-B14F-4D97-AF65-F5344CB8AC3E}">
        <p14:creationId xmlns:p14="http://schemas.microsoft.com/office/powerpoint/2010/main" val="1561611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DEBF94-BA57-3962-FFEA-1118EF496E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5F2AB32-9BD8-B958-3FA2-07BD602DEF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4691344-BBF0-3A7E-6524-0CD658146C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7F9263-46EE-4841-836B-BCCCE72C8B91}" type="datetimeFigureOut">
              <a:rPr lang="en-US" smtClean="0"/>
              <a:t>4/8/2025</a:t>
            </a:fld>
            <a:endParaRPr lang="en-US"/>
          </a:p>
        </p:txBody>
      </p:sp>
      <p:sp>
        <p:nvSpPr>
          <p:cNvPr id="5" name="Footer Placeholder 4">
            <a:extLst>
              <a:ext uri="{FF2B5EF4-FFF2-40B4-BE49-F238E27FC236}">
                <a16:creationId xmlns:a16="http://schemas.microsoft.com/office/drawing/2014/main" id="{18C7A0FC-7D23-3DE0-B9D1-D81308A6CF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B44A55-FB89-95E9-EFC0-FAA360B051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7F6D81-17FA-8B4E-853F-AD4A8DC3E68B}" type="slidenum">
              <a:rPr lang="en-US" smtClean="0"/>
              <a:t>‹#›</a:t>
            </a:fld>
            <a:endParaRPr lang="en-US"/>
          </a:p>
        </p:txBody>
      </p:sp>
      <p:sp>
        <p:nvSpPr>
          <p:cNvPr id="8" name="TextBox 7">
            <a:extLst>
              <a:ext uri="{FF2B5EF4-FFF2-40B4-BE49-F238E27FC236}">
                <a16:creationId xmlns:a16="http://schemas.microsoft.com/office/drawing/2014/main" id="{3EA4C307-F60C-5B26-BA54-2E642FE1BFDD}"/>
              </a:ext>
            </a:extLst>
          </p:cNvPr>
          <p:cNvSpPr txBox="1"/>
          <p:nvPr>
            <p:extLst>
              <p:ext uri="{1162E1C5-73C7-4A58-AE30-91384D911F3F}">
                <p184:classification xmlns:p184="http://schemas.microsoft.com/office/powerpoint/2018/4/main" val="ftr"/>
              </p:ext>
            </p:extLst>
          </p:nvPr>
        </p:nvSpPr>
        <p:spPr>
          <a:xfrm>
            <a:off x="5785612" y="6672580"/>
            <a:ext cx="642938" cy="121920"/>
          </a:xfrm>
          <a:prstGeom prst="rect">
            <a:avLst/>
          </a:prstGeom>
        </p:spPr>
        <p:txBody>
          <a:bodyPr horzOverflow="overflow" lIns="0" tIns="0" rIns="0" bIns="0">
            <a:spAutoFit/>
          </a:bodyPr>
          <a:lstStyle/>
          <a:p>
            <a:pPr algn="l"/>
            <a:r>
              <a:rPr lang="en-US" sz="800">
                <a:solidFill>
                  <a:srgbClr val="737373"/>
                </a:solidFill>
                <a:latin typeface="Calibri" panose="020F0502020204030204" pitchFamily="34" charset="0"/>
                <a:cs typeface="Calibri" panose="020F0502020204030204" pitchFamily="34" charset="0"/>
              </a:rPr>
              <a:t>Asurion_Public</a:t>
            </a:r>
          </a:p>
        </p:txBody>
      </p:sp>
    </p:spTree>
    <p:extLst>
      <p:ext uri="{BB962C8B-B14F-4D97-AF65-F5344CB8AC3E}">
        <p14:creationId xmlns:p14="http://schemas.microsoft.com/office/powerpoint/2010/main" val="3699497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package" Target="../embeddings/Microsoft_Excel_Worksheet.xlsx"/><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76B27A0-4052-8349-4B5E-614AA97601A3}"/>
              </a:ext>
            </a:extLst>
          </p:cNvPr>
          <p:cNvSpPr>
            <a:spLocks noGrp="1"/>
          </p:cNvSpPr>
          <p:nvPr>
            <p:ph type="subTitle" idx="1"/>
          </p:nvPr>
        </p:nvSpPr>
        <p:spPr>
          <a:xfrm>
            <a:off x="606287" y="491987"/>
            <a:ext cx="10979426" cy="5874026"/>
          </a:xfrm>
        </p:spPr>
        <p:txBody>
          <a:bodyPr>
            <a:noAutofit/>
          </a:bodyPr>
          <a:lstStyle/>
          <a:p>
            <a:pPr marL="342900" indent="-342900" algn="l">
              <a:buAutoNum type="alphaUcParenR"/>
            </a:pPr>
            <a:r>
              <a:rPr lang="en-SG" sz="2000" b="1" i="0" dirty="0">
                <a:effectLst/>
              </a:rPr>
              <a:t>Demand Forecasting for Phone Devices in Supply Chain</a:t>
            </a:r>
          </a:p>
          <a:p>
            <a:pPr algn="l"/>
            <a:endParaRPr lang="en-SG" sz="1400" b="1" dirty="0">
              <a:solidFill>
                <a:srgbClr val="323130"/>
              </a:solidFill>
            </a:endParaRPr>
          </a:p>
          <a:p>
            <a:pPr algn="l"/>
            <a:r>
              <a:rPr lang="en-SG" sz="1400" b="1" dirty="0">
                <a:solidFill>
                  <a:srgbClr val="7030A0"/>
                </a:solidFill>
              </a:rPr>
              <a:t>Objective</a:t>
            </a:r>
            <a:endParaRPr lang="en-SG" sz="1400" b="1" i="0" dirty="0">
              <a:solidFill>
                <a:srgbClr val="7030A0"/>
              </a:solidFill>
              <a:effectLst/>
            </a:endParaRPr>
          </a:p>
          <a:p>
            <a:pPr algn="l"/>
            <a:r>
              <a:rPr lang="en-SG" sz="1400" b="0" i="0" dirty="0">
                <a:solidFill>
                  <a:srgbClr val="323130"/>
                </a:solidFill>
                <a:effectLst/>
              </a:rPr>
              <a:t>The purpose of this assignment is to gauge your ability to </a:t>
            </a:r>
            <a:r>
              <a:rPr lang="en-SG" sz="1400" b="0" i="0" dirty="0" err="1">
                <a:solidFill>
                  <a:srgbClr val="323130"/>
                </a:solidFill>
                <a:effectLst/>
              </a:rPr>
              <a:t>analyze</a:t>
            </a:r>
            <a:r>
              <a:rPr lang="en-SG" sz="1400" b="0" i="0" dirty="0">
                <a:solidFill>
                  <a:srgbClr val="323130"/>
                </a:solidFill>
                <a:effectLst/>
              </a:rPr>
              <a:t> the provided data and apply your machine learning skills in demand forecasting for phone devices, considering the complexity of multiple models across diverse brands. Please go ahead to add in appropriate data values wherever needed. Refer to this attached excel for data :</a:t>
            </a:r>
          </a:p>
          <a:p>
            <a:pPr algn="l"/>
            <a:endParaRPr lang="en-SG" sz="1400" b="0" i="0" dirty="0">
              <a:solidFill>
                <a:srgbClr val="323130"/>
              </a:solidFill>
              <a:effectLst/>
            </a:endParaRPr>
          </a:p>
          <a:p>
            <a:pPr algn="l"/>
            <a:endParaRPr lang="en-SG" sz="1400" b="0" i="0" dirty="0">
              <a:solidFill>
                <a:srgbClr val="323130"/>
              </a:solidFill>
              <a:effectLst/>
            </a:endParaRPr>
          </a:p>
          <a:p>
            <a:pPr algn="l"/>
            <a:r>
              <a:rPr lang="en-SG" sz="1400" b="1" i="0" dirty="0">
                <a:solidFill>
                  <a:srgbClr val="7030A0"/>
                </a:solidFill>
                <a:effectLst/>
              </a:rPr>
              <a:t>Deliverables</a:t>
            </a:r>
            <a:endParaRPr lang="en-SG" sz="1400" b="0" i="0" dirty="0">
              <a:solidFill>
                <a:srgbClr val="7030A0"/>
              </a:solidFill>
              <a:effectLst/>
            </a:endParaRPr>
          </a:p>
          <a:p>
            <a:pPr algn="l">
              <a:buFont typeface="+mj-lt"/>
              <a:buAutoNum type="arabicPeriod"/>
            </a:pPr>
            <a:r>
              <a:rPr lang="en-SG" sz="1400" b="0" i="0" dirty="0">
                <a:solidFill>
                  <a:srgbClr val="323130"/>
                </a:solidFill>
                <a:effectLst/>
              </a:rPr>
              <a:t>A brief data insights report.</a:t>
            </a:r>
          </a:p>
          <a:p>
            <a:pPr algn="l">
              <a:buFont typeface="+mj-lt"/>
              <a:buAutoNum type="arabicPeriod"/>
            </a:pPr>
            <a:r>
              <a:rPr lang="en-SG" sz="1400" b="0" i="0" dirty="0">
                <a:solidFill>
                  <a:srgbClr val="323130"/>
                </a:solidFill>
                <a:effectLst/>
              </a:rPr>
              <a:t>A champion </a:t>
            </a:r>
            <a:r>
              <a:rPr lang="en-SG" sz="1400" dirty="0">
                <a:solidFill>
                  <a:srgbClr val="323130"/>
                </a:solidFill>
              </a:rPr>
              <a:t>and its challenger (if any ) </a:t>
            </a:r>
            <a:r>
              <a:rPr lang="en-SG" sz="1400" b="0" i="0" dirty="0">
                <a:solidFill>
                  <a:srgbClr val="323130"/>
                </a:solidFill>
                <a:effectLst/>
              </a:rPr>
              <a:t>demand forecasting model based on experiments and on your validation criteria.</a:t>
            </a:r>
          </a:p>
          <a:p>
            <a:pPr algn="l">
              <a:buFont typeface="+mj-lt"/>
              <a:buAutoNum type="arabicPeriod"/>
            </a:pPr>
            <a:r>
              <a:rPr lang="en-SG" sz="1400" b="0" i="0" dirty="0">
                <a:solidFill>
                  <a:srgbClr val="323130"/>
                </a:solidFill>
                <a:effectLst/>
              </a:rPr>
              <a:t>A demand forecast for the next two month.</a:t>
            </a:r>
          </a:p>
          <a:p>
            <a:pPr algn="l">
              <a:buFont typeface="+mj-lt"/>
              <a:buAutoNum type="arabicPeriod"/>
            </a:pPr>
            <a:r>
              <a:rPr lang="en-SG" sz="1400" b="0" i="0" dirty="0">
                <a:solidFill>
                  <a:srgbClr val="323130"/>
                </a:solidFill>
                <a:effectLst/>
              </a:rPr>
              <a:t>A report summarizing your findings and process.</a:t>
            </a:r>
          </a:p>
          <a:p>
            <a:pPr algn="l"/>
            <a:endParaRPr lang="en-SG" sz="1400" dirty="0">
              <a:solidFill>
                <a:srgbClr val="323130"/>
              </a:solidFill>
            </a:endParaRPr>
          </a:p>
          <a:p>
            <a:pPr algn="l"/>
            <a:r>
              <a:rPr lang="en-SG" sz="1400" b="1" dirty="0">
                <a:solidFill>
                  <a:srgbClr val="7030A0"/>
                </a:solidFill>
              </a:rPr>
              <a:t>Evaluation </a:t>
            </a:r>
          </a:p>
          <a:p>
            <a:pPr algn="l"/>
            <a:r>
              <a:rPr lang="en-SG" sz="1400" b="0" i="0" dirty="0">
                <a:solidFill>
                  <a:srgbClr val="323130"/>
                </a:solidFill>
                <a:effectLst/>
              </a:rPr>
              <a:t>Your assignment will be evaluated on the following criteria:</a:t>
            </a:r>
          </a:p>
          <a:p>
            <a:pPr algn="l">
              <a:buFont typeface="+mj-lt"/>
              <a:buAutoNum type="arabicPeriod"/>
            </a:pPr>
            <a:r>
              <a:rPr lang="en-SG" sz="1400" b="0" i="0" dirty="0">
                <a:solidFill>
                  <a:srgbClr val="323130"/>
                </a:solidFill>
                <a:effectLst/>
              </a:rPr>
              <a:t>The quality of your data analysis.</a:t>
            </a:r>
          </a:p>
          <a:p>
            <a:pPr algn="l">
              <a:buFont typeface="+mj-lt"/>
              <a:buAutoNum type="arabicPeriod"/>
            </a:pPr>
            <a:r>
              <a:rPr lang="en-SG" sz="1400" b="0" i="0" dirty="0">
                <a:solidFill>
                  <a:srgbClr val="323130"/>
                </a:solidFill>
                <a:effectLst/>
              </a:rPr>
              <a:t>The effectiveness of choosing the appropriate demand forecasting model with explainability.</a:t>
            </a:r>
          </a:p>
          <a:p>
            <a:pPr algn="l">
              <a:buFont typeface="+mj-lt"/>
              <a:buAutoNum type="arabicPeriod"/>
            </a:pPr>
            <a:r>
              <a:rPr lang="en-SG" sz="1400" b="0" i="0" dirty="0">
                <a:solidFill>
                  <a:srgbClr val="323130"/>
                </a:solidFill>
                <a:effectLst/>
              </a:rPr>
              <a:t>The clarity and conciseness of your report with the</a:t>
            </a:r>
            <a:r>
              <a:rPr lang="en-SG" sz="1400" dirty="0">
                <a:solidFill>
                  <a:srgbClr val="323130"/>
                </a:solidFill>
              </a:rPr>
              <a:t> run through of code developed during the interview.</a:t>
            </a:r>
            <a:endParaRPr lang="en-SG" sz="1400" b="0" i="0" dirty="0">
              <a:solidFill>
                <a:srgbClr val="323130"/>
              </a:solidFill>
              <a:effectLst/>
            </a:endParaRPr>
          </a:p>
          <a:p>
            <a:pPr algn="l"/>
            <a:endParaRPr lang="en-US" sz="1400" dirty="0"/>
          </a:p>
          <a:p>
            <a:pPr algn="l">
              <a:buFont typeface="+mj-lt"/>
              <a:buAutoNum type="arabicPeriod"/>
            </a:pPr>
            <a:endParaRPr lang="en-SG" sz="1400" b="0" i="0" dirty="0">
              <a:solidFill>
                <a:srgbClr val="323130"/>
              </a:solidFill>
              <a:effectLst/>
            </a:endParaRPr>
          </a:p>
          <a:p>
            <a:pPr algn="l">
              <a:buFont typeface="+mj-lt"/>
              <a:buAutoNum type="arabicPeriod"/>
            </a:pPr>
            <a:endParaRPr lang="en-SG" sz="1400" b="0" i="0" dirty="0">
              <a:solidFill>
                <a:srgbClr val="323130"/>
              </a:solidFill>
              <a:effectLst/>
            </a:endParaRPr>
          </a:p>
          <a:p>
            <a:pPr marL="457200" indent="-457200" algn="l">
              <a:buAutoNum type="arabicPeriod"/>
            </a:pPr>
            <a:endParaRPr lang="en-US" sz="1400" dirty="0"/>
          </a:p>
        </p:txBody>
      </p:sp>
      <p:graphicFrame>
        <p:nvGraphicFramePr>
          <p:cNvPr id="5" name="Object 4">
            <a:extLst>
              <a:ext uri="{FF2B5EF4-FFF2-40B4-BE49-F238E27FC236}">
                <a16:creationId xmlns:a16="http://schemas.microsoft.com/office/drawing/2014/main" id="{F4CEDE3A-B9D0-39D0-2822-B54E941E632C}"/>
              </a:ext>
            </a:extLst>
          </p:cNvPr>
          <p:cNvGraphicFramePr>
            <a:graphicFrameLocks noChangeAspect="1"/>
          </p:cNvGraphicFramePr>
          <p:nvPr>
            <p:extLst>
              <p:ext uri="{D42A27DB-BD31-4B8C-83A1-F6EECF244321}">
                <p14:modId xmlns:p14="http://schemas.microsoft.com/office/powerpoint/2010/main" val="2901088457"/>
              </p:ext>
            </p:extLst>
          </p:nvPr>
        </p:nvGraphicFramePr>
        <p:xfrm>
          <a:off x="4235701" y="2144294"/>
          <a:ext cx="381000" cy="792163"/>
        </p:xfrm>
        <a:graphic>
          <a:graphicData uri="http://schemas.openxmlformats.org/presentationml/2006/ole">
            <mc:AlternateContent xmlns:mc="http://schemas.openxmlformats.org/markup-compatibility/2006">
              <mc:Choice xmlns:v="urn:schemas-microsoft-com:vml" Requires="v">
                <p:oleObj name="Worksheet" showAsIcon="1" r:id="rId2" imgW="381000" imgH="792480" progId="Excel.Sheet.12">
                  <p:embed/>
                </p:oleObj>
              </mc:Choice>
              <mc:Fallback>
                <p:oleObj name="Worksheet" showAsIcon="1" r:id="rId2" imgW="381000" imgH="792480" progId="Excel.Sheet.12">
                  <p:embed/>
                  <p:pic>
                    <p:nvPicPr>
                      <p:cNvPr id="0" name=""/>
                      <p:cNvPicPr/>
                      <p:nvPr/>
                    </p:nvPicPr>
                    <p:blipFill>
                      <a:blip r:embed="rId3"/>
                      <a:stretch>
                        <a:fillRect/>
                      </a:stretch>
                    </p:blipFill>
                    <p:spPr>
                      <a:xfrm>
                        <a:off x="4235701" y="2144294"/>
                        <a:ext cx="381000" cy="792163"/>
                      </a:xfrm>
                      <a:prstGeom prst="rect">
                        <a:avLst/>
                      </a:prstGeom>
                    </p:spPr>
                  </p:pic>
                </p:oleObj>
              </mc:Fallback>
            </mc:AlternateContent>
          </a:graphicData>
        </a:graphic>
      </p:graphicFrame>
      <p:pic>
        <p:nvPicPr>
          <p:cNvPr id="4" name="Picture 3" descr="A black text on a white background&#10;&#10;Description automatically generated">
            <a:extLst>
              <a:ext uri="{FF2B5EF4-FFF2-40B4-BE49-F238E27FC236}">
                <a16:creationId xmlns:a16="http://schemas.microsoft.com/office/drawing/2014/main" id="{1A8E9DF9-78CC-F416-44B6-EDA26458731C}"/>
              </a:ext>
            </a:extLst>
          </p:cNvPr>
          <p:cNvPicPr>
            <a:picLocks noChangeAspect="1"/>
          </p:cNvPicPr>
          <p:nvPr/>
        </p:nvPicPr>
        <p:blipFill>
          <a:blip r:embed="rId4"/>
          <a:stretch>
            <a:fillRect/>
          </a:stretch>
        </p:blipFill>
        <p:spPr>
          <a:xfrm>
            <a:off x="10596784" y="6254803"/>
            <a:ext cx="1473200" cy="431800"/>
          </a:xfrm>
          <a:prstGeom prst="rect">
            <a:avLst/>
          </a:prstGeom>
        </p:spPr>
      </p:pic>
    </p:spTree>
    <p:extLst>
      <p:ext uri="{BB962C8B-B14F-4D97-AF65-F5344CB8AC3E}">
        <p14:creationId xmlns:p14="http://schemas.microsoft.com/office/powerpoint/2010/main" val="412145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76B27A0-4052-8349-4B5E-614AA97601A3}"/>
              </a:ext>
            </a:extLst>
          </p:cNvPr>
          <p:cNvSpPr>
            <a:spLocks noGrp="1"/>
          </p:cNvSpPr>
          <p:nvPr>
            <p:ph type="subTitle" idx="1"/>
          </p:nvPr>
        </p:nvSpPr>
        <p:spPr>
          <a:xfrm>
            <a:off x="599661" y="526774"/>
            <a:ext cx="10979426" cy="5635487"/>
          </a:xfrm>
        </p:spPr>
        <p:txBody>
          <a:bodyPr>
            <a:normAutofit/>
          </a:bodyPr>
          <a:lstStyle/>
          <a:p>
            <a:pPr algn="l"/>
            <a:r>
              <a:rPr lang="en-SG" sz="2000" b="1" dirty="0">
                <a:solidFill>
                  <a:srgbClr val="323130"/>
                </a:solidFill>
              </a:rPr>
              <a:t>B) </a:t>
            </a:r>
            <a:r>
              <a:rPr lang="en-SG" sz="2000" b="1" i="0" dirty="0">
                <a:solidFill>
                  <a:srgbClr val="323130"/>
                </a:solidFill>
                <a:effectLst/>
              </a:rPr>
              <a:t>Gen </a:t>
            </a:r>
            <a:r>
              <a:rPr lang="en-SG" sz="2000" b="1" dirty="0">
                <a:solidFill>
                  <a:srgbClr val="323130"/>
                </a:solidFill>
              </a:rPr>
              <a:t>AI’s </a:t>
            </a:r>
            <a:r>
              <a:rPr lang="en-SG" sz="2000" b="1" i="0" dirty="0">
                <a:solidFill>
                  <a:srgbClr val="323130"/>
                </a:solidFill>
                <a:effectLst/>
              </a:rPr>
              <a:t>Large Language Model-Based Solution for Customer Facing Chatbot Using Vector Knowledge Database</a:t>
            </a:r>
            <a:br>
              <a:rPr lang="en-SG" sz="1400" b="0" i="0" dirty="0">
                <a:solidFill>
                  <a:srgbClr val="323130"/>
                </a:solidFill>
                <a:effectLst/>
              </a:rPr>
            </a:br>
            <a:endParaRPr lang="en-SG" sz="1400" b="0" i="0" dirty="0">
              <a:solidFill>
                <a:srgbClr val="323130"/>
              </a:solidFill>
              <a:effectLst/>
            </a:endParaRPr>
          </a:p>
          <a:p>
            <a:pPr algn="just"/>
            <a:r>
              <a:rPr lang="en-SG" sz="1400" b="1" i="0" dirty="0">
                <a:solidFill>
                  <a:srgbClr val="7030A0"/>
                </a:solidFill>
                <a:effectLst/>
              </a:rPr>
              <a:t>Objective</a:t>
            </a:r>
          </a:p>
          <a:p>
            <a:pPr algn="just"/>
            <a:r>
              <a:rPr lang="en-SG" sz="1400" b="0" i="0" dirty="0">
                <a:solidFill>
                  <a:srgbClr val="323130"/>
                </a:solidFill>
                <a:effectLst/>
              </a:rPr>
              <a:t>The purpose of this assignment is to gauge your ability to design complex AI solutions, specifically a Language Model-based chatbot for customer service with an integrated vector knowledge database. The chatbot should be capable of handling a variety of customer inquiries and support tasks with the goal of enhancing customer experience. For simplicity of the assignment, choose Open AI’s GPT-</a:t>
            </a:r>
            <a:r>
              <a:rPr lang="en-SG" sz="1400" dirty="0">
                <a:solidFill>
                  <a:srgbClr val="323130"/>
                </a:solidFill>
              </a:rPr>
              <a:t>3.5 Turbo and GPT4 or any other open-source LLM</a:t>
            </a:r>
          </a:p>
          <a:p>
            <a:pPr algn="just"/>
            <a:endParaRPr lang="en-SG" sz="1400" b="1" i="0" dirty="0">
              <a:solidFill>
                <a:srgbClr val="323130"/>
              </a:solidFill>
              <a:effectLst/>
            </a:endParaRPr>
          </a:p>
          <a:p>
            <a:pPr algn="just"/>
            <a:r>
              <a:rPr lang="en-SG" sz="1400" b="1" i="0" dirty="0">
                <a:solidFill>
                  <a:srgbClr val="7030A0"/>
                </a:solidFill>
                <a:effectLst/>
              </a:rPr>
              <a:t>Deliverables</a:t>
            </a:r>
            <a:endParaRPr lang="en-SG" sz="1400" b="0" i="0" dirty="0">
              <a:solidFill>
                <a:srgbClr val="7030A0"/>
              </a:solidFill>
              <a:effectLst/>
            </a:endParaRPr>
          </a:p>
          <a:p>
            <a:pPr algn="l">
              <a:buFont typeface="+mj-lt"/>
              <a:buAutoNum type="arabicPeriod"/>
            </a:pPr>
            <a:r>
              <a:rPr lang="en-SG" sz="1400" b="0" i="0" dirty="0">
                <a:solidFill>
                  <a:srgbClr val="323130"/>
                </a:solidFill>
                <a:effectLst/>
              </a:rPr>
              <a:t>A comprehensive </a:t>
            </a:r>
            <a:r>
              <a:rPr lang="en-SG" sz="1400" dirty="0">
                <a:solidFill>
                  <a:srgbClr val="323130"/>
                </a:solidFill>
              </a:rPr>
              <a:t>solution design</a:t>
            </a:r>
            <a:r>
              <a:rPr lang="en-SG" sz="1400" b="0" i="0" dirty="0">
                <a:solidFill>
                  <a:srgbClr val="323130"/>
                </a:solidFill>
                <a:effectLst/>
              </a:rPr>
              <a:t> using language model-based chatbots and vector knowledge databases.</a:t>
            </a:r>
          </a:p>
          <a:p>
            <a:pPr algn="l">
              <a:buFont typeface="+mj-lt"/>
              <a:buAutoNum type="arabicPeriod"/>
            </a:pPr>
            <a:r>
              <a:rPr lang="en-SG" sz="1400" dirty="0">
                <a:solidFill>
                  <a:srgbClr val="323130"/>
                </a:solidFill>
              </a:rPr>
              <a:t>LLM responses e</a:t>
            </a:r>
            <a:r>
              <a:rPr lang="en-SG" sz="1400" b="0" i="0" dirty="0">
                <a:solidFill>
                  <a:srgbClr val="323130"/>
                </a:solidFill>
                <a:effectLst/>
              </a:rPr>
              <a:t>valuation criteria and tech framework.</a:t>
            </a:r>
            <a:br>
              <a:rPr lang="en-SG" sz="1400" b="0" i="0" dirty="0">
                <a:solidFill>
                  <a:srgbClr val="323130"/>
                </a:solidFill>
                <a:effectLst/>
              </a:rPr>
            </a:br>
            <a:br>
              <a:rPr lang="en-SG" sz="1400" b="0" i="0" dirty="0">
                <a:solidFill>
                  <a:srgbClr val="323130"/>
                </a:solidFill>
                <a:effectLst/>
              </a:rPr>
            </a:br>
            <a:r>
              <a:rPr lang="en-SG" sz="1400" b="1" i="0" dirty="0">
                <a:solidFill>
                  <a:srgbClr val="7030A0"/>
                </a:solidFill>
                <a:effectLst/>
              </a:rPr>
              <a:t>Evaluation</a:t>
            </a:r>
          </a:p>
          <a:p>
            <a:pPr algn="l"/>
            <a:r>
              <a:rPr lang="en-SG" sz="1400" dirty="0">
                <a:solidFill>
                  <a:srgbClr val="323130"/>
                </a:solidFill>
              </a:rPr>
              <a:t>1. Designing data storage and search efficiency for vector knowledge databases. If you have search results to run through, it will be a bonus!</a:t>
            </a:r>
          </a:p>
          <a:p>
            <a:pPr algn="l">
              <a:lnSpc>
                <a:spcPct val="100000"/>
              </a:lnSpc>
            </a:pPr>
            <a:r>
              <a:rPr lang="en-SG" sz="1400" dirty="0">
                <a:solidFill>
                  <a:srgbClr val="323130"/>
                </a:solidFill>
              </a:rPr>
              <a:t>2. Effectiveness of the chatbot solution architecture considering real world scenarios.</a:t>
            </a:r>
          </a:p>
          <a:p>
            <a:pPr algn="l">
              <a:lnSpc>
                <a:spcPct val="100000"/>
              </a:lnSpc>
            </a:pPr>
            <a:r>
              <a:rPr lang="en-SG" sz="1400" dirty="0">
                <a:solidFill>
                  <a:srgbClr val="323130"/>
                </a:solidFill>
              </a:rPr>
              <a:t>3. Run through during the interview.</a:t>
            </a:r>
          </a:p>
          <a:p>
            <a:pPr algn="l"/>
            <a:br>
              <a:rPr lang="en-SG" sz="1400" b="0" i="0" dirty="0">
                <a:solidFill>
                  <a:srgbClr val="323130"/>
                </a:solidFill>
                <a:effectLst/>
              </a:rPr>
            </a:br>
            <a:r>
              <a:rPr lang="en-SG" sz="1400" dirty="0">
                <a:effectLst/>
              </a:rPr>
              <a:t>You have the option to select either A or B from the assignments provided. If you're able to do both, that's fantastic! </a:t>
            </a:r>
            <a:r>
              <a:rPr lang="en-SG" sz="1400" b="0" i="0" dirty="0">
                <a:solidFill>
                  <a:srgbClr val="323130"/>
                </a:solidFill>
                <a:effectLst/>
              </a:rPr>
              <a:t>You will have </a:t>
            </a:r>
            <a:r>
              <a:rPr lang="en-SG" sz="1400" b="1" i="0" dirty="0">
                <a:solidFill>
                  <a:srgbClr val="323130"/>
                </a:solidFill>
                <a:effectLst/>
              </a:rPr>
              <a:t>two</a:t>
            </a:r>
            <a:r>
              <a:rPr lang="en-SG" sz="1400" b="0" i="0" dirty="0">
                <a:solidFill>
                  <a:srgbClr val="323130"/>
                </a:solidFill>
                <a:effectLst/>
              </a:rPr>
              <a:t> </a:t>
            </a:r>
            <a:r>
              <a:rPr lang="en-SG" sz="1400" b="1" i="0" dirty="0">
                <a:solidFill>
                  <a:srgbClr val="323130"/>
                </a:solidFill>
                <a:effectLst/>
              </a:rPr>
              <a:t>days</a:t>
            </a:r>
            <a:r>
              <a:rPr lang="en-SG" sz="1400" b="0" i="0" dirty="0">
                <a:solidFill>
                  <a:srgbClr val="323130"/>
                </a:solidFill>
                <a:effectLst/>
              </a:rPr>
              <a:t> to complete this assignment. Please submit all deliverables in a single zip file. Good luck!</a:t>
            </a:r>
          </a:p>
        </p:txBody>
      </p:sp>
      <p:pic>
        <p:nvPicPr>
          <p:cNvPr id="4" name="Picture 3" descr="A black text on a white background&#10;&#10;Description automatically generated">
            <a:extLst>
              <a:ext uri="{FF2B5EF4-FFF2-40B4-BE49-F238E27FC236}">
                <a16:creationId xmlns:a16="http://schemas.microsoft.com/office/drawing/2014/main" id="{AFE958CF-9C5B-3B93-06C9-80CB4666103A}"/>
              </a:ext>
            </a:extLst>
          </p:cNvPr>
          <p:cNvPicPr>
            <a:picLocks noChangeAspect="1"/>
          </p:cNvPicPr>
          <p:nvPr/>
        </p:nvPicPr>
        <p:blipFill>
          <a:blip r:embed="rId2"/>
          <a:stretch>
            <a:fillRect/>
          </a:stretch>
        </p:blipFill>
        <p:spPr>
          <a:xfrm>
            <a:off x="10586307" y="6278038"/>
            <a:ext cx="1473200" cy="431800"/>
          </a:xfrm>
          <a:prstGeom prst="rect">
            <a:avLst/>
          </a:prstGeom>
        </p:spPr>
      </p:pic>
    </p:spTree>
    <p:extLst>
      <p:ext uri="{BB962C8B-B14F-4D97-AF65-F5344CB8AC3E}">
        <p14:creationId xmlns:p14="http://schemas.microsoft.com/office/powerpoint/2010/main" val="748679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7992a08-0002-453e-b155-df58efcef8d6}" enabled="1" method="Privileged" siteId="{64e5ad32-cb04-44df-8896-bed5d7792429}" removed="0"/>
  <clbl:label id="{c98a79ca-5a9a-4791-a243-f06afd67464d}" enabled="0" method="" siteId="{c98a79ca-5a9a-4791-a243-f06afd67464d}" removed="1"/>
</clbl:labelList>
</file>

<file path=docProps/app.xml><?xml version="1.0" encoding="utf-8"?>
<Properties xmlns="http://schemas.openxmlformats.org/officeDocument/2006/extended-properties" xmlns:vt="http://schemas.openxmlformats.org/officeDocument/2006/docPropsVTypes">
  <TotalTime>1331</TotalTime>
  <Words>373</Words>
  <Application>Microsoft Office PowerPoint</Application>
  <PresentationFormat>Widescreen</PresentationFormat>
  <Paragraphs>30</Paragraphs>
  <Slides>2</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7" baseType="lpstr">
      <vt:lpstr>Arial</vt:lpstr>
      <vt:lpstr>Calibri</vt:lpstr>
      <vt:lpstr>Calibri Light</vt:lpstr>
      <vt:lpstr>Office Theme</vt:lpstr>
      <vt:lpstr>Worksheet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Ghugare, Priyanka</dc:creator>
  <cp:lastModifiedBy>VU Duc Cong</cp:lastModifiedBy>
  <cp:revision>164</cp:revision>
  <dcterms:created xsi:type="dcterms:W3CDTF">2023-12-01T02:55:31Z</dcterms:created>
  <dcterms:modified xsi:type="dcterms:W3CDTF">2025-04-08T18:14:09Z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Asurion_Public</vt:lpwstr>
  </property>
</Properties>
</file>